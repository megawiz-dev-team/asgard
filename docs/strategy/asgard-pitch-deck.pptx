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463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0" i="0">
                <a:solidFill>
                  <a:srgbClr val="1F2937"/>
                </a:solidFill>
              </a:rPr>
              <a:t>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2024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1F2937"/>
                </a:solidFill>
              </a:rPr>
              <a:t>ASGARD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1089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374151"/>
                </a:solidFill>
              </a:rPr>
              <a:t>Self-Hosted AI Platform for Enterprise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840480"/>
            <a:ext cx="777240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9776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</a:rPr>
              <a:t>Zero cloud dependency  ·  Apple Silicon &amp; NVIDIA  ·  Open-core (AGPL-3.0 + Enterprise)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6263640"/>
            <a:ext cx="1191463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38251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paripol@megawiz.co   ·   MegaWiz Co., Ltd.   ·   v1.2-alpha   ·   April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9224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</a:rPr>
              <a:t>องค์กร Regulated Industry เจอปัญหาเดียวกัน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55778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</a:rPr>
              <a:t>🔒  Data Sovereignty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64792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</a:rPr>
              <a:t>ข้อมูลผู้ป่วย / ลูกค้า ถูกส่งออก cloud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688336"/>
            <a:ext cx="55778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25496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</a:rPr>
              <a:t>🔗  Vendor Lock-in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82696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</a:rPr>
              <a:t>ขึ้นกับ OpenAI / Azure API โดยตรง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206240"/>
            <a:ext cx="55778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</a:rPr>
              <a:t>💸  Cost at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0060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</a:rPr>
              <a:t>฿0.35 / 1K tokens × volume = บิลพุ่ง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170432"/>
            <a:ext cx="55778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30759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</a:rPr>
              <a:t>📋  PDPA / 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764792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</a:rPr>
              <a:t>ต้อง build from scratch หรือรับความเสี่ยง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688336"/>
            <a:ext cx="55778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825496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</a:rPr>
              <a:t>🔧  Integration Chaos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282696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</a:rPr>
              <a:t>ต้องต่อ 5–10 tools เข้าหากันเอง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48272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0" y="649224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</a:rPr>
              <a:t>Asgard = AI Stack ครบชุด บน Hardware ขององค์กรเอง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98448"/>
            <a:ext cx="2176272" cy="2286000"/>
          </a:xfrm>
          <a:prstGeom prst="rect">
            <a:avLst/>
          </a:prstGeom>
          <a:solidFill>
            <a:srgbClr val="065F4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44752"/>
            <a:ext cx="199339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F2937"/>
                </a:solidFill>
              </a:rPr>
              <a:t>🛡️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84831"/>
            <a:ext cx="199339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LLM Gateway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514600"/>
            <a:ext cx="19933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CFDF5"/>
                </a:solidFill>
              </a:rPr>
              <a:t>Heimdall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9735" y="2212848"/>
            <a:ext cx="182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298448"/>
            <a:ext cx="2176272" cy="2286000"/>
          </a:xfrm>
          <a:prstGeom prst="rect">
            <a:avLst/>
          </a:prstGeom>
          <a:solidFill>
            <a:srgbClr val="064E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0048" y="1444752"/>
            <a:ext cx="199339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F2937"/>
                </a:solidFill>
              </a:rP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0048" y="2084831"/>
            <a:ext cx="199339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RAG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0048" y="2514600"/>
            <a:ext cx="19933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CFDF5"/>
                </a:solidFill>
              </a:rPr>
              <a:t>Mimir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4023" y="2212848"/>
            <a:ext cx="182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82896" y="1298448"/>
            <a:ext cx="2176272" cy="2286000"/>
          </a:xfrm>
          <a:prstGeom prst="rect">
            <a:avLst/>
          </a:prstGeom>
          <a:solidFill>
            <a:srgbClr val="074E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74336" y="1444752"/>
            <a:ext cx="199339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F2937"/>
                </a:solidFill>
              </a:rP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74336" y="2084831"/>
            <a:ext cx="199339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Agent Runtime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74336" y="2514600"/>
            <a:ext cx="19933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CFDF5"/>
                </a:solidFill>
              </a:rPr>
              <a:t>Bifrost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8312" y="2212848"/>
            <a:ext cx="182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87184" y="1298448"/>
            <a:ext cx="2176272" cy="2286000"/>
          </a:xfrm>
          <a:prstGeom prst="rect">
            <a:avLst/>
          </a:prstGeom>
          <a:solidFill>
            <a:srgbClr val="14532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78624" y="1444752"/>
            <a:ext cx="199339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F2937"/>
                </a:solidFill>
              </a:rPr>
              <a:t>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8624" y="2084831"/>
            <a:ext cx="199339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Computer 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78624" y="2514600"/>
            <a:ext cx="19933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CFDF5"/>
                </a:solidFill>
              </a:rPr>
              <a:t>Fenrir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212848"/>
            <a:ext cx="182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91472" y="1298448"/>
            <a:ext cx="2176272" cy="2286000"/>
          </a:xfrm>
          <a:prstGeom prst="rect">
            <a:avLst/>
          </a:prstGeom>
          <a:solidFill>
            <a:srgbClr val="164E3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82912" y="1444752"/>
            <a:ext cx="199339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F2937"/>
                </a:solidFill>
              </a:rPr>
              <a:t>⚖️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2" y="2084831"/>
            <a:ext cx="199339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SIEM / Audit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82912" y="2514600"/>
            <a:ext cx="19933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CFDF5"/>
                </a:solidFill>
              </a:rPr>
              <a:t>Týr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3794760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</a:rPr>
              <a:t>✅  100% On-Premise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23367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</a:rPr>
              <a:t>ข้อมูลไม่ออกไปไหนเลย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794760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</a:rPr>
              <a:t>✅  OpenAI-Compatible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23367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</a:rPr>
              <a:t>ไม่ต้อง rewrite code เดิม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59" y="3794760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</a:rPr>
              <a:t>✅  Modular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59" y="423367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</a:rPr>
              <a:t>เลือก deploy เฉพาะส่วนที่ต้องการ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48272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338560" y="649224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</a:rPr>
              <a:t>3-Layer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61872"/>
            <a:ext cx="11430000" cy="1389888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61872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7160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</a:rPr>
              <a:t>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371600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</a:rPr>
              <a:t>Mimir Dashboard  ·  Eir Chat UI  ·  Asgard Portal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98063"/>
            <a:ext cx="114300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798063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907791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</a:rPr>
              <a:t>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907791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</a:rPr>
              <a:t>Bifrost (ReAct Agent)  ·  Mimir (RAG + GraphRAG)  ·  Fenrir (Computer Use)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334256"/>
            <a:ext cx="11430000" cy="1389888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4334256"/>
            <a:ext cx="201168" cy="13898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443984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</a:rPr>
              <a:t>Infrastructure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4443984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</a:rPr>
              <a:t>Heimdall (LLM GW)  ·  Yggdrasil (Auth/SSO)  ·  Týr (SIEM)  ·  Fáfnir (Vault)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9893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280"/>
                </a:solidFill>
              </a:rPr>
              <a:t>Protocols: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5989320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</a:rPr>
              <a:t>MCP (tool calls)  ·  A2A (agent-to-agent)  ·  OpenAI-compatible REST + SSE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48272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0" y="649224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LIVE PLATFORM — PROOF OF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</a:rPr>
              <a:t>v1.2-alpha · Sprint 38 · 2026-04-22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61872"/>
            <a:ext cx="2697480" cy="210312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61872"/>
            <a:ext cx="269748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0B981"/>
                </a:solidFill>
              </a:rP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04288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74151"/>
                </a:solidFill>
              </a:rPr>
              <a:t>Pods Running
0 failures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261872"/>
            <a:ext cx="2697480" cy="210312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261872"/>
            <a:ext cx="269748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89888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0B981"/>
                </a:solidFill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304288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74151"/>
                </a:solidFill>
              </a:rPr>
              <a:t>Microservices
(ทั้งหมด Rust)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261872"/>
            <a:ext cx="2697480" cy="210312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261872"/>
            <a:ext cx="269748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389888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0B981"/>
                </a:solidFill>
              </a:rPr>
              <a:t>530+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304288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74151"/>
                </a:solidFill>
              </a:rPr>
              <a:t>Automated Tests
ผ่านทั้งหมด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261872"/>
            <a:ext cx="2697480" cy="210312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06840" y="1261872"/>
            <a:ext cx="269748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1389888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0B981"/>
                </a:solidFill>
              </a:rPr>
              <a:t>฿0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304288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74151"/>
                </a:solidFill>
              </a:rPr>
              <a:t>Cloud Cost
100% local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566160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280"/>
                </a:solidFill>
              </a:rPr>
              <a:t>Default LLM 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3566160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</a:rPr>
              <a:t>Qwen3.5-9B MLX 4-bit  (run local — ไม่ใช้ internet)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251960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280"/>
                </a:solidFill>
              </a:rPr>
              <a:t>Hardware    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4251960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</a:rPr>
              <a:t>Mac Mini M4 Pro 64GB  ·  273 GB/s unified 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937760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280"/>
                </a:solidFill>
              </a:rPr>
              <a:t>Deployment  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4937760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</a:rPr>
              <a:t>OrbStack K8s + Helm umbrella  ·  Ingress-NGINX + Cert-Manager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48272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38560" y="649224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REAL-WORLD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</a:rPr>
              <a:t>MegaCare — Sleep Medicine &amp; Neurology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Powered by Sakura Asgard  ·  PoC: Mid-May → Mid-June 2026  ·  Partnership: Sakura Internet + Sojitz + Megawiz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53312"/>
            <a:ext cx="4160520" cy="504748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53312"/>
            <a:ext cx="41605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26464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</a:rPr>
              <a:t>Zero-Trust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74519"/>
            <a:ext cx="3977639" cy="777240"/>
          </a:xfrm>
          <a:prstGeom prst="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38527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🖥️  MegaCare Portal (Cloud Run)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Frontend + Agentic Service (ADK)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651760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743200"/>
            <a:ext cx="3977639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0720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⚡  Bifrost Agent (On-premise)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5468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ReAct + MCP + PHA / DE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520440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611879"/>
            <a:ext cx="3977639" cy="777240"/>
          </a:xfrm>
          <a:prstGeom prst="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675887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🛡️  Heimdall Gateway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23359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PII Scrubber ก่อนส่งออก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4389120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480559"/>
            <a:ext cx="3977639" cy="777240"/>
          </a:xfrm>
          <a:prstGeom prst="rect">
            <a:avLst/>
          </a:prstGeom>
          <a:solidFill>
            <a:srgbClr val="F0FDF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5445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🔐  WireGuard VPN (Site-to-Site)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9204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Encrypted — Zero Plaintext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5257799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349240"/>
            <a:ext cx="3977639" cy="777240"/>
          </a:xfrm>
          <a:prstGeom prst="rect">
            <a:avLst/>
          </a:prstGeom>
          <a:solidFill>
            <a:srgbClr val="14532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41324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🚀  NVIDIA H100 @ Ishikari IDC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76072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DF5"/>
                </a:solidFill>
              </a:rPr>
              <a:t>vLLM · Llama-3.1-70B · Gemma-4-27b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1353312"/>
            <a:ext cx="7205472" cy="504748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63440" y="1353312"/>
            <a:ext cx="720547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00600" y="1426464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</a:rPr>
              <a:t>Use Cases + Asgard Components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0600" y="1828800"/>
            <a:ext cx="6931152" cy="804672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64607" y="1938528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F2937"/>
                </a:solidFill>
              </a:rPr>
              <a:t>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13248" y="1874519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AI Triage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13248" y="221284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สอบถามข้อมูลผู้ป่วย CPAP ด้วยภาษาธรรมชาติ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1874519"/>
            <a:ext cx="24871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0B981"/>
                </a:solidFill>
              </a:rPr>
              <a:t>Bifrost Agent · Mimir RAG · BigQuery MCP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00600" y="2715768"/>
            <a:ext cx="693115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64607" y="2825496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F2937"/>
                </a:solidFill>
              </a:rPr>
              <a:t>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13248" y="2761487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AHI / RERA / Leak Analysis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13248" y="3099815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Agent สรุป Sleep Study Report อัตโนมัติ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761487"/>
            <a:ext cx="24871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0B981"/>
                </a:solidFill>
              </a:rPr>
              <a:t>Bifrost ReAct · Heimdall H100 (Llama-70B)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00600" y="3602736"/>
            <a:ext cx="6931152" cy="804672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64607" y="3712463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F2937"/>
                </a:solidFill>
              </a:rPr>
              <a:t>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13248" y="364845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PHA Agent (ผู้ช่วยเภสัช)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13248" y="398678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แนะนำ pharmacist ก่อน follow-up call คนไข้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3648456"/>
            <a:ext cx="24871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0B981"/>
                </a:solidFill>
              </a:rPr>
              <a:t>Bifrost Agent · Mimir Knowledge Base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00600" y="4489704"/>
            <a:ext cx="693115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64607" y="4599432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F2937"/>
                </a:solidFill>
              </a:rPr>
              <a:t>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13248" y="453542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Medical Summarization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13248" y="48737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สรุปประวัติจาก ResMed AirView → Encounter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4535424"/>
            <a:ext cx="24871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0B981"/>
                </a:solidFill>
              </a:rPr>
              <a:t>Bifrost · Eir FHIR R4 · Mimir RAG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00600" y="5376672"/>
            <a:ext cx="6931152" cy="804672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64607" y="5486400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F2937"/>
                </a:solidFill>
              </a:rPr>
              <a:t>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13248" y="54223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PII Scrubbing &amp; Audit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13248" y="57607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ลบ HN / ชื่อก่อนส่ง GPU — ปฏิบัติตาม PDPA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5422392"/>
            <a:ext cx="24871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0B981"/>
                </a:solidFill>
              </a:rPr>
              <a:t>Heimdall Middleware · Týr SIEM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6492240"/>
            <a:ext cx="11548872" cy="292608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F46"/>
                </a:solidFill>
              </a:rPr>
              <a:t>🛡️  Core Guarantee: ข้อมูลคนไข้อยู่บน Mac Mini (Thailand) เท่านั้น — H100 ทำ inference only · Stateless · Zero disk write · Zero data persistence on Sakura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748272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338560" y="649224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COMPETITIVE 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</a:rPr>
              <a:t>ทำไม Asgard จึงชนะในกลุ่ม Enterprise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288950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353312"/>
            <a:ext cx="27797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B7280"/>
                </a:solidFill>
              </a:rPr>
              <a:t>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261872"/>
            <a:ext cx="1627632" cy="4572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46120" y="1261872"/>
            <a:ext cx="162763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0128" y="1353312"/>
            <a:ext cx="15179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5F46"/>
                </a:solidFill>
              </a:rPr>
              <a:t>Asgard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10328" y="1261872"/>
            <a:ext cx="144475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74336" y="1353312"/>
            <a:ext cx="13350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Dify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91656" y="1261872"/>
            <a:ext cx="153619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353312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Open WebUI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64424" y="1261872"/>
            <a:ext cx="16276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2" y="1353312"/>
            <a:ext cx="15179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AnythingLLM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28632" y="1261872"/>
            <a:ext cx="16276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1353312"/>
            <a:ext cx="15179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OpenClaw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755648"/>
            <a:ext cx="288950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1847088"/>
            <a:ext cx="27797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</a:rPr>
              <a:t>LLM Gateway (local)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1755648"/>
            <a:ext cx="1627632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10128" y="1847088"/>
            <a:ext cx="15179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5F46"/>
                </a:solidFill>
              </a:rPr>
              <a:t>✅ Heimdall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10328" y="1755648"/>
            <a:ext cx="144475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74336" y="1847088"/>
            <a:ext cx="13350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32F2F"/>
                </a:solidFill>
              </a:rPr>
              <a:t>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91656" y="1755648"/>
            <a:ext cx="153619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1847088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32F2F"/>
                </a:solidFill>
              </a:rPr>
              <a:t>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64424" y="1755648"/>
            <a:ext cx="16276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28432" y="1847088"/>
            <a:ext cx="15179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32F2F"/>
                </a:solidFill>
              </a:rPr>
              <a:t>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28632" y="1755648"/>
            <a:ext cx="16276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1847088"/>
            <a:ext cx="15179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32F2F"/>
                </a:solidFill>
              </a:rPr>
              <a:t>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249424"/>
            <a:ext cx="288950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2340864"/>
            <a:ext cx="27797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</a:rPr>
              <a:t>Native Local Inference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2249424"/>
            <a:ext cx="1627632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10128" y="2340864"/>
            <a:ext cx="15179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5F46"/>
                </a:solidFill>
              </a:rPr>
              <a:t>✅ MLX+vLLM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10328" y="2249424"/>
            <a:ext cx="144475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74336" y="2340864"/>
            <a:ext cx="13350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32F2F"/>
                </a:solidFill>
              </a:rPr>
              <a:t>❌ Cloud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91656" y="2249424"/>
            <a:ext cx="153619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55664" y="2340864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AD4E"/>
                </a:solidFill>
              </a:rPr>
              <a:t>⚠️ Ollama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64424" y="2249424"/>
            <a:ext cx="16276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28432" y="2340864"/>
            <a:ext cx="15179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AD4E"/>
                </a:solidFill>
              </a:rPr>
              <a:t>⚠️ Ollama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28632" y="2249424"/>
            <a:ext cx="16276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92640" y="2340864"/>
            <a:ext cx="15179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AD4E"/>
                </a:solidFill>
              </a:rPr>
              <a:t>⚠️ Ollama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2743200"/>
            <a:ext cx="288950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2834640"/>
            <a:ext cx="27797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</a:rPr>
              <a:t>RAG Pipeline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46120" y="2743200"/>
            <a:ext cx="1627632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10128" y="2834640"/>
            <a:ext cx="15179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5F46"/>
                </a:solidFill>
              </a:rPr>
              <a:t>✅ Mimir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10328" y="2743200"/>
            <a:ext cx="144475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74336" y="2834640"/>
            <a:ext cx="13350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91656" y="2743200"/>
            <a:ext cx="153619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55664" y="2834640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AD4E"/>
                </a:solidFill>
              </a:rPr>
              <a:t>⚠️ Basic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64424" y="2743200"/>
            <a:ext cx="16276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28432" y="2834640"/>
            <a:ext cx="15179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8632" y="2743200"/>
            <a:ext cx="16276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92640" y="2834640"/>
            <a:ext cx="15179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32F2F"/>
                </a:solidFill>
              </a:rPr>
              <a:t>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3236976"/>
            <a:ext cx="288950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4048" y="3328416"/>
            <a:ext cx="27797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</a:rPr>
              <a:t>Agent Runtime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46120" y="3236976"/>
            <a:ext cx="1627632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10128" y="3328416"/>
            <a:ext cx="15179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5F46"/>
                </a:solidFill>
              </a:rPr>
              <a:t>✅ Bifrost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10328" y="3236976"/>
            <a:ext cx="144475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74336" y="3328416"/>
            <a:ext cx="13350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91656" y="3236976"/>
            <a:ext cx="153619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55664" y="3328416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32F2F"/>
                </a:solidFill>
              </a:rPr>
              <a:t>❌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964424" y="3236976"/>
            <a:ext cx="16276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28432" y="3328416"/>
            <a:ext cx="15179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32F2F"/>
                </a:solidFill>
              </a:rPr>
              <a:t>❌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8632" y="3236976"/>
            <a:ext cx="16276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92640" y="3328416"/>
            <a:ext cx="15179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</a:rPr>
              <a:t>✅ unsafe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3730752"/>
            <a:ext cx="288950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84048" y="3822191"/>
            <a:ext cx="27797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</a:rPr>
              <a:t>Computer Use (sandboxed)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46120" y="3730752"/>
            <a:ext cx="1627632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310128" y="3822191"/>
            <a:ext cx="15179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5F46"/>
                </a:solidFill>
              </a:rPr>
              <a:t>✅ Fenrir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10328" y="3730752"/>
            <a:ext cx="144475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974336" y="3822191"/>
            <a:ext cx="13350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32F2F"/>
                </a:solidFill>
              </a:rPr>
              <a:t>❌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91656" y="3730752"/>
            <a:ext cx="153619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55664" y="3822191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32F2F"/>
                </a:solidFill>
              </a:rPr>
              <a:t>❌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964424" y="3730752"/>
            <a:ext cx="16276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028432" y="3822191"/>
            <a:ext cx="15179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32F2F"/>
                </a:solidFill>
              </a:rPr>
              <a:t>❌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628632" y="3730752"/>
            <a:ext cx="16276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692640" y="3822191"/>
            <a:ext cx="15179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AD4E"/>
                </a:solidFill>
              </a:rPr>
              <a:t>⚠️ RCE CVE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" y="4224528"/>
            <a:ext cx="288950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84048" y="4315968"/>
            <a:ext cx="27797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</a:rPr>
              <a:t>Multi-Tenant RBAC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46120" y="4224528"/>
            <a:ext cx="1627632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310128" y="4315968"/>
            <a:ext cx="15179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5F46"/>
                </a:solidFill>
              </a:rPr>
              <a:t>✅ Zitadel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910328" y="4224528"/>
            <a:ext cx="144475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974336" y="4315968"/>
            <a:ext cx="13350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391656" y="4224528"/>
            <a:ext cx="153619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55664" y="4315968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AD4E"/>
                </a:solidFill>
              </a:rPr>
              <a:t>⚠️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964424" y="4224528"/>
            <a:ext cx="16276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028432" y="4315968"/>
            <a:ext cx="15179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32F2F"/>
                </a:solidFill>
              </a:rPr>
              <a:t>❌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628632" y="4224528"/>
            <a:ext cx="16276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692640" y="4315968"/>
            <a:ext cx="15179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32F2F"/>
                </a:solidFill>
              </a:rPr>
              <a:t>❌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" y="4718304"/>
            <a:ext cx="288950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84048" y="4809744"/>
            <a:ext cx="27797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</a:rPr>
              <a:t>SIEM / Audit Trail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246120" y="4718304"/>
            <a:ext cx="1627632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310128" y="4809744"/>
            <a:ext cx="15179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5F46"/>
                </a:solidFill>
              </a:rPr>
              <a:t>✅ Týr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10328" y="4718304"/>
            <a:ext cx="144475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974336" y="4809744"/>
            <a:ext cx="13350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32F2F"/>
                </a:solidFill>
              </a:rPr>
              <a:t>❌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391656" y="4718304"/>
            <a:ext cx="153619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55664" y="4809744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32F2F"/>
                </a:solidFill>
              </a:rPr>
              <a:t>❌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964424" y="4718304"/>
            <a:ext cx="16276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028432" y="4809744"/>
            <a:ext cx="15179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32F2F"/>
                </a:solidFill>
              </a:rPr>
              <a:t>❌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628632" y="4718304"/>
            <a:ext cx="16276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692640" y="4809744"/>
            <a:ext cx="15179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32F2F"/>
                </a:solidFill>
              </a:rPr>
              <a:t>❌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20040" y="644652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32F2F"/>
                </a:solidFill>
              </a:rPr>
              <a:t>⚠️ OpenClaw: 347K GitHub stars — แต่มี RCE CVE-2026-25253 และ 42,900 exposed instances; ไม่เหมาะกับ regulated workloads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0" y="6748272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1338560" y="649224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TARGET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</a:rPr>
              <a:t>TAM ฿980B → SOM ฿1.47B (SEA, Regulated Industries)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38404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38404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B7280"/>
                </a:solidFill>
              </a:rP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27632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</a:rPr>
              <a:t>฿980B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7627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Global AI Platform 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234440"/>
            <a:ext cx="38404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234440"/>
            <a:ext cx="38404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32588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B7280"/>
                </a:solidFill>
              </a:rP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627632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</a:rPr>
              <a:t>฿147B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17627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Self-hosted AI — Regulated Industries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19" y="1234440"/>
            <a:ext cx="3840480" cy="128016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19" y="1234440"/>
            <a:ext cx="38404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32588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B7280"/>
                </a:solidFill>
              </a:rPr>
              <a:t>SOM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627632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</a:rPr>
              <a:t>฿1.47B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17627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Thailand + SEA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651760"/>
            <a:ext cx="46634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51760"/>
            <a:ext cx="466344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2743200"/>
            <a:ext cx="393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5F46"/>
                </a:solidFill>
              </a:rPr>
              <a:t>Tier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2651760"/>
            <a:ext cx="275234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2651760"/>
            <a:ext cx="2752344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2743200"/>
            <a:ext cx="26791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5F46"/>
                </a:solidFill>
              </a:rPr>
              <a:t>Segment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11879" y="2651760"/>
            <a:ext cx="256946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11879" y="2651760"/>
            <a:ext cx="2569464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66744" y="2743200"/>
            <a:ext cx="2496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5F46"/>
                </a:solidFill>
              </a:rPr>
              <a:t>WTP ต่อปี (฿)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651760"/>
            <a:ext cx="595274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2651760"/>
            <a:ext cx="5952744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72783" y="2743200"/>
            <a:ext cx="5879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5F46"/>
                </a:solidFill>
              </a:rPr>
              <a:t>Value Driver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099815"/>
            <a:ext cx="466344" cy="41148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4904" y="3191256"/>
            <a:ext cx="39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5F46"/>
                </a:solidFill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3099815"/>
            <a:ext cx="275234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7824" y="3191256"/>
            <a:ext cx="26791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</a:rPr>
              <a:t>🏥 Healthcare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11879" y="3099815"/>
            <a:ext cx="256946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66744" y="3191256"/>
            <a:ext cx="2496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฿840K – ฿2.1M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3099815"/>
            <a:ext cx="595274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72783" y="3191256"/>
            <a:ext cx="5879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PDPA · FHIR R4 built-in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547872"/>
            <a:ext cx="46634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4904" y="3639312"/>
            <a:ext cx="39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5F46"/>
                </a:solidFill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" y="3547872"/>
            <a:ext cx="275234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7824" y="3639312"/>
            <a:ext cx="26791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</a:rPr>
              <a:t>🏦 Financial Services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11879" y="3547872"/>
            <a:ext cx="256946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66744" y="3639312"/>
            <a:ext cx="2496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฿2.1M+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3547872"/>
            <a:ext cx="595274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72783" y="3639312"/>
            <a:ext cx="5879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Compliance · Audit trail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995928"/>
            <a:ext cx="466344" cy="41148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4904" y="4087368"/>
            <a:ext cx="39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5F46"/>
                </a:solidFill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" y="3995928"/>
            <a:ext cx="275234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7824" y="4087368"/>
            <a:ext cx="26791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</a:rPr>
              <a:t>⚖️ Legal Firms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11879" y="3995928"/>
            <a:ext cx="256946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66744" y="4087368"/>
            <a:ext cx="2496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฿840K – ฿2.1M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3995928"/>
            <a:ext cx="595274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72783" y="4087368"/>
            <a:ext cx="5879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Document confidentiality + RAG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443983"/>
            <a:ext cx="46634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4904" y="4535423"/>
            <a:ext cx="39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151"/>
                </a:solidFill>
              </a:rPr>
              <a:t>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2960" y="4443983"/>
            <a:ext cx="275234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7824" y="4535423"/>
            <a:ext cx="26791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</a:rPr>
              <a:t>🛡️ Insurance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11879" y="4443983"/>
            <a:ext cx="256946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66744" y="4535423"/>
            <a:ext cx="2496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฿4.2M – ฿21M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17920" y="4443983"/>
            <a:ext cx="595274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72783" y="4535423"/>
            <a:ext cx="5879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Claims automation · OIC compliance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4892040"/>
            <a:ext cx="466344" cy="41148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74904" y="4983479"/>
            <a:ext cx="39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151"/>
                </a:solidFill>
              </a:rPr>
              <a:t>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2960" y="4892040"/>
            <a:ext cx="275234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7824" y="4983479"/>
            <a:ext cx="26791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</a:rPr>
              <a:t>📡 Telco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11879" y="4892040"/>
            <a:ext cx="256946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66744" y="4983479"/>
            <a:ext cx="2496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฿21M – ฿84M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17920" y="4892040"/>
            <a:ext cx="595274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72783" y="4983479"/>
            <a:ext cx="5879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Data residency · LLM cost reduction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" y="5340096"/>
            <a:ext cx="46634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74904" y="5431536"/>
            <a:ext cx="39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151"/>
                </a:solidFill>
              </a:rPr>
              <a:t>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2960" y="5340096"/>
            <a:ext cx="275234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7824" y="5431536"/>
            <a:ext cx="26791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</a:rPr>
              <a:t>⚡ Energy / Utilities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11879" y="5340096"/>
            <a:ext cx="256946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66744" y="5431536"/>
            <a:ext cx="2496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฿21M – ฿84M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217920" y="5340096"/>
            <a:ext cx="595274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72783" y="5431536"/>
            <a:ext cx="5879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Air-gapped · กกพ./EGAT compliance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40" y="5788152"/>
            <a:ext cx="466344" cy="41148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74904" y="5879592"/>
            <a:ext cx="39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151"/>
                </a:solidFill>
              </a:rPr>
              <a:t>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22960" y="5788152"/>
            <a:ext cx="275234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77824" y="5879592"/>
            <a:ext cx="26791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</a:rPr>
              <a:t>🏗️ Large Conglomerates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611879" y="5788152"/>
            <a:ext cx="256946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666744" y="5879592"/>
            <a:ext cx="2496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฿8.4M – ฿42M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217920" y="5788152"/>
            <a:ext cx="595274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272783" y="5879592"/>
            <a:ext cx="5879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Multi-BU multi-tenant · Contract agents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0" y="6748272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338560" y="649224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</a:rPr>
              <a:t>Open-Core  ·  License + Hardware Bundle +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28346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28346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38988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2937"/>
                </a:solidFill>
              </a:rPr>
              <a:t>Community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783080"/>
            <a:ext cx="2651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</a:rPr>
              <a:t>ฟรี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39572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</a:rPr>
              <a:t>$0 / yr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72491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74151"/>
                </a:solidFill>
              </a:rPr>
              <a:t>Developer · Startup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261872"/>
            <a:ext cx="28346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261872"/>
            <a:ext cx="28346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38988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2937"/>
                </a:solidFill>
              </a:rPr>
              <a:t>Starter 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1783080"/>
            <a:ext cx="2651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</a:rPr>
              <a:t>฿175K/ปี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239572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</a:rPr>
              <a:t>$5K / yr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72491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74151"/>
                </a:solidFill>
              </a:rPr>
              <a:t>10–20 users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261872"/>
            <a:ext cx="2834640" cy="2377440"/>
          </a:xfrm>
          <a:prstGeom prst="rect">
            <a:avLst/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261872"/>
            <a:ext cx="28346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138988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2937"/>
                </a:solidFill>
              </a:rPr>
              <a:t>Professional 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1783080"/>
            <a:ext cx="2651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</a:rPr>
              <a:t>฿700K/ปี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239572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</a:rPr>
              <a:t>$20K / yr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272491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74151"/>
                </a:solidFill>
              </a:rPr>
              <a:t>20–50 users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1261872"/>
            <a:ext cx="28346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0" y="1261872"/>
            <a:ext cx="28346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45167" y="138988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2937"/>
                </a:solidFill>
              </a:rPr>
              <a:t>Custom 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7" y="1783080"/>
            <a:ext cx="2651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</a:rPr>
              <a:t>฿1.75M+/ปี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5167" y="239572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</a:rPr>
              <a:t>$50K+ / yr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5167" y="272491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74151"/>
                </a:solidFill>
              </a:rPr>
              <a:t>Large enterprise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3840480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</a:rPr>
              <a:t>Hardware Bundles — pre-configured พร้อม Asgard preinstalled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389120"/>
            <a:ext cx="2834640" cy="16002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389120"/>
            <a:ext cx="28346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49884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</a:rPr>
              <a:t>Mini
M4 16GB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79" y="5010912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</a:rPr>
              <a:t>฿87K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79" y="54315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$2,500 · 1–5 users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91840" y="4389120"/>
            <a:ext cx="2834640" cy="16002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91840" y="4389120"/>
            <a:ext cx="28346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83280" y="449884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</a:rPr>
              <a:t>Pro
M4 Pro 64GB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5010912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</a:rPr>
              <a:t>฿133K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54315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$3,800 · 20–50 users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4389120"/>
            <a:ext cx="2834640" cy="16002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4389120"/>
            <a:ext cx="28346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79" y="449884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</a:rPr>
              <a:t>Studio
M4 Ultra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79" y="5010912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</a:rPr>
              <a:t>฿332K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79" y="54315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$9,500 · 50–200 users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35440" y="4389120"/>
            <a:ext cx="2834640" cy="16002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35440" y="4389120"/>
            <a:ext cx="28346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26880" y="449884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</a:rPr>
              <a:t>GPU
DGX Spark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5010912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</a:rPr>
              <a:t>฿210–525K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54315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$6–15K · 50–200+ users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748272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338560" y="649224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ROADMAP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</a:rPr>
              <a:t>4 Phases สู่ Enterprise GA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2852928" cy="507492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2852928" cy="7498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325880"/>
            <a:ext cx="26700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Q2 2026
Shield Wall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188720"/>
            <a:ext cx="2670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●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76272"/>
            <a:ext cx="26243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</a:rPr>
              <a:t>✅ K8s production + Helm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44952"/>
            <a:ext cx="26243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</a:rPr>
              <a:t>✅ ISO 27001 log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13631"/>
            <a:ext cx="26243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AD4E"/>
                </a:solidFill>
              </a:rPr>
              <a:t>🚧 AI Guardrails Thai PII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82312"/>
            <a:ext cx="26243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AD4E"/>
                </a:solidFill>
              </a:rPr>
              <a:t>🚧 Line · Gmail · BigQuery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1261872"/>
            <a:ext cx="2852928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0128" y="1261872"/>
            <a:ext cx="2852928" cy="74980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1325880"/>
            <a:ext cx="26700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2937"/>
                </a:solidFill>
              </a:rPr>
              <a:t>Q3 2026
Dev Preview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176272"/>
            <a:ext cx="26243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Visual Workflow Builder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3044952"/>
            <a:ext cx="26243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GitHub public launch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3913631"/>
            <a:ext cx="26243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First consulting revenue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0216" y="1261872"/>
            <a:ext cx="2852928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0216" y="1261872"/>
            <a:ext cx="2852928" cy="74980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5" y="1325880"/>
            <a:ext cx="26700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2937"/>
                </a:solidFill>
              </a:rPr>
              <a:t>Q4 2026
Community v1.0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176272"/>
            <a:ext cx="26243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v1.0 Community Edition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3044952"/>
            <a:ext cx="26243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Product Hunt / HackerNews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3913631"/>
            <a:ext cx="26243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3–5 Design Partners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90304" y="1261872"/>
            <a:ext cx="2852928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90304" y="1261872"/>
            <a:ext cx="2852928" cy="74980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81744" y="1325880"/>
            <a:ext cx="26700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2937"/>
                </a:solidFill>
              </a:rPr>
              <a:t>2027
Enterprise GA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27464" y="2176272"/>
            <a:ext cx="26243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Enterprise Pilot Q1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27464" y="3044952"/>
            <a:ext cx="26243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First Enterprise Deal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27464" y="3913631"/>
            <a:ext cx="26243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฿3.5M ARR target Q4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48272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338560" y="649224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463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</a:rPr>
              <a:t>What We're Looking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577840" cy="237744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5778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5F46"/>
                </a:solidFill>
              </a:rPr>
              <a:t>🤝  3–5 Design Partners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</a:rPr>
              <a:t>Pilot ฟรีสำหรับ Healthcare · Insurance · FinTech · Telco
ต้องการ feedback จริงจากผู้ใช้ใน regulated industry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188720"/>
            <a:ext cx="5577840" cy="237744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188720"/>
            <a:ext cx="55778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325880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5F46"/>
                </a:solidFill>
              </a:rPr>
              <a:t>💰  ฿17.5M Seed Round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920240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</a:rPr>
              <a:t>Year 2: engineering team + enterprise sales + SEA expansion
Target close: Q2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9476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</a:rPr>
              <a:t>สถานะปัจจุบัน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43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0B981"/>
                </a:solidFill>
              </a:rPr>
              <a:t>✅  41 pods running  ·  v1.2-alpha  ·  530+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1032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0B981"/>
                </a:solidFill>
              </a:rPr>
              <a:t>✅  14 microservices in Rust  ·  ISO 27001 log pipeline active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7725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0B981"/>
                </a:solidFill>
              </a:rPr>
              <a:t>✅  Bootstrapped — ยังไม่มี external funding  ·  MegaCare PoC เริ่ม Mid-May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6144768"/>
            <a:ext cx="11914632" cy="603504"/>
          </a:xfrm>
          <a:prstGeom prst="rect">
            <a:avLst/>
          </a:prstGeom>
          <a:solidFill>
            <a:srgbClr val="ECFDF5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263640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65F46"/>
                </a:solidFill>
              </a:rPr>
              <a:t>paripol@megawiz.co   ·   github.com/MegaWiz-Dev-Team   ·   Sakura Asgard PoC: Mid-May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6748272"/>
            <a:ext cx="1191463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0" y="649224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