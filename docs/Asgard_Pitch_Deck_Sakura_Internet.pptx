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0" y="5486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0">
                <a:solidFill>
                  <a:srgbClr val="1E293B"/>
                </a:solidFill>
                <a:latin typeface="Calibri"/>
              </a:defRPr>
            </a:pPr>
            <a:r>
              <a:t>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280160"/>
            <a:ext cx="8534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65F46"/>
                </a:solidFill>
                <a:latin typeface="Calibri"/>
              </a:defRPr>
            </a:pPr>
            <a:r>
              <a:t>ASGARD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96596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0B981"/>
                </a:solidFill>
                <a:latin typeface="Calibri"/>
              </a:defRPr>
            </a:pPr>
            <a:r>
              <a:t>AI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65176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34E68"/>
                </a:solidFill>
                <a:latin typeface="Georgia"/>
              </a:defRPr>
            </a:pPr>
            <a:r>
              <a:t>"Asgard is not a place, it's a people."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063240"/>
            <a:ext cx="8534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Calibri"/>
              </a:defRPr>
            </a:pPr>
            <a:r>
              <a:t>"แอสการ์ดไม่ใช่สถานที่ แต่คือประชาชน"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429000"/>
            <a:ext cx="8534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Georgia"/>
              </a:defRPr>
            </a:pPr>
            <a:r>
              <a:t>— Odin, Thor: Ragnarok (2017)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3886200"/>
            <a:ext cx="3047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11480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59669"/>
                </a:solidFill>
                <a:latin typeface="Calibri"/>
              </a:defRPr>
            </a:pPr>
            <a:r>
              <a:t>Asgard เป็นของทุกคนแล้ว — Asgard belongs to everyone.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57200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Self-Hosted AI Agent Platform  ·  12 Services  ·  484+ Tests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5074920"/>
            <a:ext cx="3047695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530352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C4899"/>
                </a:solidFill>
                <a:latin typeface="Calibri"/>
              </a:defRPr>
            </a:pPr>
            <a:r>
              <a:t>Pitch to Sakura Internet × Sojitz Corporation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715000"/>
            <a:ext cx="8534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March 20, 2026  ·  14:00  ·  Sojitz Office, Lumphini, Bangkok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6080760"/>
            <a:ext cx="8534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MegaWiz Co., Ltd.  ·  paripol@megawiz.co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5F46"/>
                </a:solidFill>
                <a:latin typeface="Calibri"/>
              </a:defRPr>
            </a:pPr>
            <a:r>
              <a:t>📋 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9144000" cy="6858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4216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40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Who We 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42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MegaWiz &amp; Asgard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1421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3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194560"/>
            <a:ext cx="9144000" cy="6858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2445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224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24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Why Self-Hosted AI Matters 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244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3 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017520"/>
            <a:ext cx="9144000" cy="6858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0675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047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The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06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12-Service Architecture &amp; 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067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8 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840480"/>
            <a:ext cx="9144000" cy="6858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890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87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GPU Synergy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89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Where Sakura Internet Fits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890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8 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663440"/>
            <a:ext cx="9144000" cy="6858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7134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4693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Partnership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71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Investment &amp; Collaboration Proposal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4713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5 min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486400"/>
            <a:ext cx="9144000" cy="6858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536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5516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Q&amp;A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5536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Discussion &amp; Next Steps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5536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3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5F46"/>
                </a:solidFill>
                <a:latin typeface="Calibri"/>
              </a:defRPr>
            </a:pPr>
            <a:r>
              <a:t>🏰  WHO WE 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47548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F46"/>
                </a:solidFill>
                <a:latin typeface="Calibri"/>
              </a:defRPr>
            </a:pPr>
            <a:r>
              <a:t>MegaWiz Co., Ltd.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334E68"/>
                </a:solidFill>
                <a:latin typeface="Calibri"/>
              </a:defRPr>
            </a:pPr>
            <a:r>
              <a:t>🇹🇭  Bangkok, Thailand</a:t>
            </a:r>
          </a:p>
          <a:p>
            <a:pPr>
              <a:spcAft>
                <a:spcPts val="400"/>
              </a:spcAft>
              <a:defRPr sz="800" b="0">
                <a:solidFill>
                  <a:srgbClr val="334E6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1E293B"/>
                </a:solidFill>
                <a:latin typeface="Calibri"/>
              </a:defRPr>
            </a:pPr>
            <a:r>
              <a:t>Founder / CTO:  Paripol</a:t>
            </a:r>
          </a:p>
          <a:p>
            <a:pPr>
              <a:spcAft>
                <a:spcPts val="40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Full-stack AI Architect</a:t>
            </a:r>
          </a:p>
          <a:p>
            <a:pPr>
              <a:spcAft>
                <a:spcPts val="400"/>
              </a:spcAft>
              <a:defRPr sz="800" b="0">
                <a:solidFill>
                  <a:srgbClr val="334E6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334E68"/>
                </a:solidFill>
                <a:latin typeface="Calibri"/>
              </a:defRPr>
            </a:pPr>
            <a:r>
              <a:t>▸  15+ years software development</a:t>
            </a:r>
          </a:p>
          <a:p>
            <a:pPr>
              <a:spcAft>
                <a:spcPts val="400"/>
              </a:spcAft>
              <a:defRPr sz="1500" b="0">
                <a:solidFill>
                  <a:srgbClr val="334E68"/>
                </a:solidFill>
                <a:latin typeface="Calibri"/>
              </a:defRPr>
            </a:pPr>
            <a:r>
              <a:t>▸  Rust + Python + TypeScript</a:t>
            </a:r>
          </a:p>
          <a:p>
            <a:pPr>
              <a:spcAft>
                <a:spcPts val="400"/>
              </a:spcAft>
              <a:defRPr sz="1500" b="0">
                <a:solidFill>
                  <a:srgbClr val="334E68"/>
                </a:solidFill>
                <a:latin typeface="Calibri"/>
              </a:defRPr>
            </a:pPr>
            <a:r>
              <a:t>▸  Healthcare AI specialist</a:t>
            </a:r>
          </a:p>
          <a:p>
            <a:pPr>
              <a:spcAft>
                <a:spcPts val="400"/>
              </a:spcAft>
              <a:defRPr sz="1500" b="0">
                <a:solidFill>
                  <a:srgbClr val="334E68"/>
                </a:solidFill>
                <a:latin typeface="Calibri"/>
              </a:defRPr>
            </a:pPr>
            <a:r>
              <a:t>▸  ISO 29110 certified process</a:t>
            </a:r>
          </a:p>
          <a:p>
            <a:pPr>
              <a:spcAft>
                <a:spcPts val="400"/>
              </a:spcAft>
              <a:defRPr sz="800" b="0">
                <a:solidFill>
                  <a:srgbClr val="334E6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📧  paripol@megawiz.co</a:t>
            </a:r>
          </a:p>
          <a:p>
            <a:pPr>
              <a:spcAft>
                <a:spcPts val="40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🔗  github.com/MegaWiz-Dev-Team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029200" cy="47548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F46"/>
                </a:solidFill>
                <a:latin typeface="Calibri"/>
              </a:defRPr>
            </a:pPr>
            <a:r>
              <a:t>Asgard AI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0312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EC4899"/>
                </a:solidFill>
                <a:latin typeface="Calibri"/>
              </a:defRPr>
            </a:pPr>
            <a:r>
              <a:t>"Asgard เป็นของทุกคนแล้ว"</a:t>
            </a:r>
          </a:p>
          <a:p>
            <a:pPr>
              <a:spcAft>
                <a:spcPts val="4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Asgard belongs to everyone.</a:t>
            </a:r>
          </a:p>
          <a:p>
            <a:pPr>
              <a:spcAft>
                <a:spcPts val="400"/>
              </a:spcAft>
              <a:defRPr sz="800" b="0">
                <a:solidFill>
                  <a:srgbClr val="334E6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1E293B"/>
                </a:solidFill>
                <a:latin typeface="Calibri"/>
              </a:defRPr>
            </a:pPr>
            <a:r>
              <a:t>▸  12 Microservices</a:t>
            </a:r>
          </a:p>
          <a:p>
            <a:pPr>
              <a:spcAft>
                <a:spcPts val="400"/>
              </a:spcAft>
              <a:defRPr sz="1800" b="1">
                <a:solidFill>
                  <a:srgbClr val="1E293B"/>
                </a:solidFill>
                <a:latin typeface="Calibri"/>
              </a:defRPr>
            </a:pPr>
            <a:r>
              <a:t>▸  484+ Automated Tests</a:t>
            </a:r>
          </a:p>
          <a:p>
            <a:pPr>
              <a:spcAft>
                <a:spcPts val="400"/>
              </a:spcAft>
              <a:defRPr sz="1800" b="1">
                <a:solidFill>
                  <a:srgbClr val="1E293B"/>
                </a:solidFill>
                <a:latin typeface="Calibri"/>
              </a:defRPr>
            </a:pPr>
            <a:r>
              <a:t>▸  Built in Rust + Python</a:t>
            </a:r>
          </a:p>
          <a:p>
            <a:pPr>
              <a:spcAft>
                <a:spcPts val="400"/>
              </a:spcAft>
              <a:defRPr sz="800" b="0">
                <a:solidFill>
                  <a:srgbClr val="334E6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059669"/>
                </a:solidFill>
                <a:latin typeface="Calibri"/>
              </a:defRPr>
            </a:pPr>
            <a:r>
              <a:t>▸  30+ Sprints delivered</a:t>
            </a:r>
          </a:p>
          <a:p>
            <a:pPr>
              <a:spcAft>
                <a:spcPts val="400"/>
              </a:spcAft>
              <a:defRPr sz="1600" b="0">
                <a:solidFill>
                  <a:srgbClr val="059669"/>
                </a:solidFill>
                <a:latin typeface="Calibri"/>
              </a:defRPr>
            </a:pPr>
            <a:r>
              <a:t>▸  Open Source (AGPL-3.0)</a:t>
            </a:r>
          </a:p>
          <a:p>
            <a:pPr>
              <a:spcAft>
                <a:spcPts val="400"/>
              </a:spcAft>
              <a:defRPr sz="1600" b="0">
                <a:solidFill>
                  <a:srgbClr val="059669"/>
                </a:solidFill>
                <a:latin typeface="Calibri"/>
              </a:defRPr>
            </a:pPr>
            <a:r>
              <a:t>▸  Enterprise Edition available</a:t>
            </a:r>
          </a:p>
          <a:p>
            <a:pPr>
              <a:spcAft>
                <a:spcPts val="400"/>
              </a:spcAft>
              <a:defRPr sz="800" b="0">
                <a:solidFill>
                  <a:srgbClr val="334E6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0D9488"/>
                </a:solidFill>
                <a:latin typeface="Calibri"/>
              </a:defRPr>
            </a:pPr>
            <a:r>
              <a:t>✦  Apple Silicon (MLX) Native</a:t>
            </a:r>
          </a:p>
          <a:p>
            <a:pPr>
              <a:spcAft>
                <a:spcPts val="400"/>
              </a:spcAft>
              <a:defRPr sz="1500" b="0">
                <a:solidFill>
                  <a:srgbClr val="0D9488"/>
                </a:solidFill>
                <a:latin typeface="Calibri"/>
              </a:defRPr>
            </a:pPr>
            <a:r>
              <a:t>✦  NVIDIA GPU (vLLM)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5F46"/>
                </a:solidFill>
                <a:latin typeface="Calibri"/>
              </a:defRPr>
            </a:pPr>
            <a:r>
              <a:t>🏢  ABOUT COMPANY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0" y="1371600"/>
            <a:ext cx="3962095" cy="1463040"/>
          </a:xfrm>
          <a:prstGeom prst="roundRect">
            <a:avLst/>
          </a:prstGeom>
          <a:solidFill>
            <a:srgbClr val="F0FDF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0" y="1508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65F46"/>
                </a:solidFill>
                <a:latin typeface="Calibri"/>
              </a:defRPr>
            </a:pPr>
            <a:r>
              <a:t>MEGA WIZ CO., LTD.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4E68"/>
                </a:solidFill>
                <a:latin typeface="Calibri"/>
              </a:defRPr>
            </a:pPr>
            <a:r>
              <a:t>🇹🇭  Bangkok, Thailand  ·  Founded by Paripol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286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Healthcare Technology  ·  AI Solutions  ·  Education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91840"/>
            <a:ext cx="34747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59669"/>
                </a:solidFill>
                <a:latin typeface="Calibri"/>
              </a:defRPr>
            </a:pPr>
            <a:r>
              <a:t>🏥  MEGA CARE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  <a:latin typeface="Calibri"/>
              </a:defRPr>
            </a:pPr>
            <a:r>
              <a:t>We Care About Your Health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293B"/>
                </a:solidFill>
                <a:latin typeface="Calibri"/>
              </a:defRPr>
            </a:pPr>
            <a:r>
              <a:t>▸  Personalized Health Care Solutions</a:t>
            </a:r>
          </a:p>
          <a:p>
            <a:pPr>
              <a:spcAft>
                <a:spcPts val="400"/>
              </a:spcAft>
              <a:defRPr sz="1300" b="1">
                <a:solidFill>
                  <a:srgbClr val="1E293B"/>
                </a:solidFill>
                <a:latin typeface="Calibri"/>
              </a:defRPr>
            </a:pPr>
            <a:r>
              <a:t>▸  Total Sleep Solutions</a:t>
            </a:r>
          </a:p>
          <a:p>
            <a:pPr>
              <a:spcAft>
                <a:spcPts val="400"/>
              </a:spcAft>
              <a:defRPr sz="1300" b="1">
                <a:solidFill>
                  <a:srgbClr val="1E293B"/>
                </a:solidFill>
                <a:latin typeface="Calibri"/>
              </a:defRPr>
            </a:pPr>
            <a:r>
              <a:t>▸  Health Care On Cloud Monitoring</a:t>
            </a:r>
          </a:p>
          <a:p>
            <a:pPr>
              <a:spcAft>
                <a:spcPts val="400"/>
              </a:spcAft>
              <a:defRPr sz="6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Sleep Clinic · ENT · Neurology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AI-powered diagnostic assistance</a:t>
            </a:r>
          </a:p>
          <a:p>
            <a:pPr>
              <a:spcAft>
                <a:spcPts val="400"/>
              </a:spcAft>
              <a:defRPr sz="1200" b="0">
                <a:solidFill>
                  <a:srgbClr val="059669"/>
                </a:solidFill>
                <a:latin typeface="Calibri"/>
              </a:defRPr>
            </a:pPr>
            <a:r>
              <a:t>267+ medical RAG knowledge chunks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291840"/>
            <a:ext cx="34747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3429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Calibri"/>
              </a:defRPr>
            </a:pPr>
            <a:r>
              <a:t>🎓  MEGA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840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563EB"/>
                </a:solidFill>
                <a:latin typeface="Calibri"/>
              </a:defRPr>
            </a:pPr>
            <a:r>
              <a:t>Educational Organizer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20624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293B"/>
                </a:solidFill>
                <a:latin typeface="Calibri"/>
              </a:defRPr>
            </a:pPr>
            <a:r>
              <a:t>▸  Medical Training Programs</a:t>
            </a:r>
          </a:p>
          <a:p>
            <a:pPr>
              <a:spcAft>
                <a:spcPts val="400"/>
              </a:spcAft>
              <a:defRPr sz="1300" b="1">
                <a:solidFill>
                  <a:srgbClr val="1E293B"/>
                </a:solidFill>
                <a:latin typeface="Calibri"/>
              </a:defRPr>
            </a:pPr>
            <a:r>
              <a:t>▸  AI &amp; Technology Workshops</a:t>
            </a:r>
          </a:p>
          <a:p>
            <a:pPr>
              <a:spcAft>
                <a:spcPts val="400"/>
              </a:spcAft>
              <a:defRPr sz="1300" b="1">
                <a:solidFill>
                  <a:srgbClr val="1E293B"/>
                </a:solidFill>
                <a:latin typeface="Calibri"/>
              </a:defRPr>
            </a:pPr>
            <a:r>
              <a:t>▸  Healthcare Professional Dev</a:t>
            </a:r>
          </a:p>
          <a:p>
            <a:pPr>
              <a:spcAft>
                <a:spcPts val="400"/>
              </a:spcAft>
              <a:defRPr sz="6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Training next-gen healthcare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professionals with AI skills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291840"/>
            <a:ext cx="34747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429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97706"/>
                </a:solidFill>
                <a:latin typeface="Calibri"/>
              </a:defRPr>
            </a:pPr>
            <a:r>
              <a:t>📋  MEGA CONSULTANTS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840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97706"/>
                </a:solidFill>
                <a:latin typeface="Calibri"/>
              </a:defRPr>
            </a:pPr>
            <a:r>
              <a:t>Clinic Management Experts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20624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293B"/>
                </a:solidFill>
                <a:latin typeface="Calibri"/>
              </a:defRPr>
            </a:pPr>
            <a:r>
              <a:t>▸  Expertise Doctor Network</a:t>
            </a:r>
          </a:p>
          <a:p>
            <a:pPr>
              <a:spcAft>
                <a:spcPts val="400"/>
              </a:spcAft>
              <a:defRPr sz="1300" b="1">
                <a:solidFill>
                  <a:srgbClr val="1E293B"/>
                </a:solidFill>
                <a:latin typeface="Calibri"/>
              </a:defRPr>
            </a:pPr>
            <a:r>
              <a:t>▸  Clinic Setup Team</a:t>
            </a:r>
          </a:p>
          <a:p>
            <a:pPr>
              <a:spcAft>
                <a:spcPts val="400"/>
              </a:spcAft>
              <a:defRPr sz="1300" b="1">
                <a:solidFill>
                  <a:srgbClr val="1E293B"/>
                </a:solidFill>
                <a:latin typeface="Calibri"/>
              </a:defRPr>
            </a:pPr>
            <a:r>
              <a:t>▸  Clinic Operation Management</a:t>
            </a:r>
          </a:p>
          <a:p>
            <a:pPr>
              <a:spcAft>
                <a:spcPts val="400"/>
              </a:spcAft>
              <a:defRPr sz="1300" b="1">
                <a:solidFill>
                  <a:srgbClr val="1E293B"/>
                </a:solidFill>
                <a:latin typeface="Calibri"/>
              </a:defRPr>
            </a:pPr>
            <a:r>
              <a:t>▸  Service Standard Development</a:t>
            </a:r>
          </a:p>
          <a:p>
            <a:pPr>
              <a:spcAft>
                <a:spcPts val="400"/>
              </a:spcAft>
              <a:defRPr sz="6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End-to-end clinic solutions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743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743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743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97706"/>
                </a:solidFill>
                <a:latin typeface="Calibri"/>
              </a:defRPr>
            </a:pPr>
            <a:r>
              <a:t>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C2626"/>
                </a:solidFill>
                <a:latin typeface="Calibri"/>
              </a:defRPr>
            </a:pPr>
            <a:r>
              <a:t>🔥 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10312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8640" y="1554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E293B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64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2626"/>
                </a:solidFill>
                <a:latin typeface="Calibri"/>
              </a:defRPr>
            </a:pPr>
            <a:r>
              <a:t>Data Sovereignty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40" y="274320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Patient data, legal docs,</a:t>
            </a:r>
            <a:br/>
            <a:r>
              <a:t>financial records must</a:t>
            </a:r>
            <a:br/>
            <a:r>
              <a:t>stay on-premise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371600"/>
            <a:ext cx="210312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4640" y="1554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E293B"/>
                </a:solidFill>
                <a:latin typeface="Calibri"/>
              </a:defRPr>
            </a:pPr>
            <a:r>
              <a:t>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464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Calibri"/>
              </a:defRPr>
            </a:pPr>
            <a:r>
              <a:t>Rising Cloud Costs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4640" y="274320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$0.01/token × millions</a:t>
            </a:r>
            <a:br/>
            <a:r>
              <a:t>of requests =</a:t>
            </a:r>
            <a:br/>
            <a:r>
              <a:t>unsustainable budget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371600"/>
            <a:ext cx="210312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70640" y="1554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E293B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064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Calibri"/>
              </a:defRPr>
            </a:pPr>
            <a:r>
              <a:t>Vendor Lock-in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0640" y="274320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Stuck with OpenAI/Azure</a:t>
            </a:r>
            <a:br/>
            <a:r>
              <a:t>No exit strategy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1371600"/>
            <a:ext cx="210312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6640" y="1554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E293B"/>
                </a:solidFill>
                <a:latin typeface="Calibri"/>
              </a:defRPr>
            </a:pPr>
            <a:r>
              <a:t>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664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C4899"/>
                </a:solidFill>
                <a:latin typeface="Calibri"/>
              </a:defRPr>
            </a:pPr>
            <a:r>
              <a:t>PDPA / HIPAA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6640" y="274320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Cannot send sensitive data</a:t>
            </a:r>
            <a:br/>
            <a:r>
              <a:t>to external cloud 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1371600"/>
            <a:ext cx="210312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42640" y="1554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E293B"/>
                </a:solidFill>
                <a:latin typeface="Calibri"/>
              </a:defRPr>
            </a:pPr>
            <a:r>
              <a:t>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4264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2640" y="274320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Need to glue 5-10</a:t>
            </a:r>
            <a:br/>
            <a:r>
              <a:t>different AI tools</a:t>
            </a:r>
            <a:br/>
            <a:r>
              <a:t>together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4754880"/>
            <a:ext cx="9448495" cy="1645920"/>
          </a:xfrm>
          <a:prstGeom prst="roundRect">
            <a:avLst/>
          </a:prstGeom>
          <a:solidFill>
            <a:srgbClr val="F0FDF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4892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59669"/>
                </a:solidFill>
                <a:latin typeface="Calibri"/>
              </a:defRPr>
            </a:pPr>
            <a:r>
              <a:t>💰  MARKET OPPORTUNITY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349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  <a:latin typeface="Calibri"/>
              </a:defRPr>
            </a:pPr>
            <a:r>
              <a:t>$28B AI Platform Market (2025)  →  $147B by 2030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852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59669"/>
                </a:solidFill>
                <a:latin typeface="Calibri"/>
              </a:defRPr>
            </a:pPr>
            <a:r>
              <a:t>Self-hosted AI for regulated industries = $4.2B segment  ·  35% CAGR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5F46"/>
                </a:solidFill>
                <a:latin typeface="Calibri"/>
              </a:defRPr>
            </a:pPr>
            <a:r>
              <a:t>🏗️  ASGARD ARCHITECTURE — 12 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32004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2697480" cy="16459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8640" y="1157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🧠 Mimir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640" y="1437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E68"/>
                </a:solidFill>
                <a:latin typeface="Calibri"/>
              </a:defRPr>
            </a:pPr>
            <a:r>
              <a:t>RAG + Agent Builder +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40" y="1697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Rust, Next.js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48640" y="1697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255+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097280"/>
            <a:ext cx="2697480" cy="16459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9000" y="1157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🛡️ Heimdall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000" y="1437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E68"/>
                </a:solidFill>
                <a:latin typeface="Calibri"/>
              </a:defRPr>
            </a:pPr>
            <a:r>
              <a:t>LLM Gateway (Multi-Backend)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000" y="1697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Rust (Axum)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9000" y="1697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Production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097280"/>
            <a:ext cx="2697480" cy="16459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360" y="1157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Calibri"/>
              </a:defRPr>
            </a:pPr>
            <a:r>
              <a:t>⚡ Bifrost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360" y="1437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E68"/>
                </a:solidFill>
                <a:latin typeface="Calibri"/>
              </a:defRPr>
            </a:pPr>
            <a:r>
              <a:t>Agent Runtime (ReAct+MCP)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360" y="1697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Python (FastAPI)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9360" y="1697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99 tests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097280"/>
            <a:ext cx="2697480" cy="16459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9720" y="1157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4E68"/>
                </a:solidFill>
                <a:latin typeface="Calibri"/>
              </a:defRPr>
            </a:pPr>
            <a:r>
              <a:t>🐺 Fenrir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9720" y="1437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E68"/>
                </a:solidFill>
                <a:latin typeface="Calibri"/>
              </a:defRPr>
            </a:pPr>
            <a:r>
              <a:t>Computer-Use Agent + FHIR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9720" y="1697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89720" y="1697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47 tests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2926080"/>
            <a:ext cx="2697480" cy="16459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640" y="298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  <a:latin typeface="Calibri"/>
              </a:defRPr>
            </a:pPr>
            <a:r>
              <a:t>🏥 Eir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640" y="326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E68"/>
                </a:solidFill>
                <a:latin typeface="Calibri"/>
              </a:defRPr>
            </a:pPr>
            <a:r>
              <a:t>Healthcare Gateway + Chat 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640" y="3526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Rust + PHP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8640" y="3526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47 tests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29000" y="2926080"/>
            <a:ext cx="2697480" cy="16459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9000" y="298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🌳 Yggdrasil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9000" y="326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E68"/>
                </a:solidFill>
                <a:latin typeface="Calibri"/>
              </a:defRPr>
            </a:pPr>
            <a:r>
              <a:t>Auth Service (OIDC/JWT)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9000" y="3526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Go + Python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29000" y="3526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31 tests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2926080"/>
            <a:ext cx="2697480" cy="16459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9360" y="298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Calibri"/>
              </a:defRPr>
            </a:pPr>
            <a:r>
              <a:t>🛡️ Várðr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9360" y="326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E68"/>
                </a:solidFill>
                <a:latin typeface="Calibri"/>
              </a:defRPr>
            </a:pPr>
            <a:r>
              <a:t>Monitoring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9360" y="3526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Rust (Axum)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09360" y="3526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5 tests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89720" y="2926080"/>
            <a:ext cx="2697480" cy="16459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89720" y="298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  <a:latin typeface="Calibri"/>
              </a:defRPr>
            </a:pPr>
            <a:r>
              <a:t>🐦‍⬛ Huginn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9720" y="326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E68"/>
                </a:solidFill>
                <a:latin typeface="Calibri"/>
              </a:defRPr>
            </a:pPr>
            <a:r>
              <a:t>Security Scanner + AI Pentest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9720" y="3526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89720" y="3526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Building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4754880"/>
            <a:ext cx="2697480" cy="16459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8640" y="4814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  <a:latin typeface="Calibri"/>
              </a:defRPr>
            </a:pPr>
            <a:r>
              <a:t>🐦 Muninn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8640" y="5094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E68"/>
                </a:solidFill>
                <a:latin typeface="Calibri"/>
              </a:defRPr>
            </a:pPr>
            <a:r>
              <a:t>Issue Watcher + Auto-Fixer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8640" y="5354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48640" y="5354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Building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29000" y="4754880"/>
            <a:ext cx="2697480" cy="16459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29000" y="4814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🐿️ Ratatoskr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29000" y="5094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E68"/>
                </a:solidFill>
                <a:latin typeface="Calibri"/>
              </a:defRPr>
            </a:pPr>
            <a:r>
              <a:t>Shared Browser Service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29000" y="5354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Rust (Axum)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29000" y="5354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✅ Done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09360" y="4754880"/>
            <a:ext cx="2697480" cy="16459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9360" y="4814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⚖️ Forseti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9360" y="5094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E68"/>
                </a:solidFill>
                <a:latin typeface="Calibri"/>
              </a:defRPr>
            </a:pPr>
            <a:r>
              <a:t>Test &amp; Quality Dashboard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9360" y="5354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09360" y="5354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✅ Done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89720" y="4754880"/>
            <a:ext cx="2697480" cy="16459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89720" y="4814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5F46"/>
                </a:solidFill>
                <a:latin typeface="Calibri"/>
              </a:defRPr>
            </a:pPr>
            <a:r>
              <a:t>🏰 Asgard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89720" y="5094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E68"/>
                </a:solidFill>
                <a:latin typeface="Calibri"/>
              </a:defRPr>
            </a:pPr>
            <a:r>
              <a:t>Docker Compose Orchestrator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89720" y="5354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YAML + Shell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89720" y="5354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Active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5F46"/>
                </a:solidFill>
                <a:latin typeface="Calibri"/>
              </a:defRPr>
            </a:pPr>
            <a:r>
              <a:t>🏆  COMPETITIVE ADVANTAGE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32004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105156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0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marL="91440" marR="91440" marT="45720" marB="4572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Asgard</a:t>
                      </a:r>
                    </a:p>
                  </a:txBody>
                  <a:tcPr marL="91440" marR="91440" marT="45720" marB="4572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Dify</a:t>
                      </a:r>
                    </a:p>
                  </a:txBody>
                  <a:tcPr marL="91440" marR="91440" marT="45720" marB="4572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Open WebUI</a:t>
                      </a:r>
                    </a:p>
                  </a:txBody>
                  <a:tcPr marL="91440" marR="91440" marT="45720" marB="4572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AnythingLLM</a:t>
                      </a:r>
                    </a:p>
                  </a:txBody>
                  <a:tcPr marL="91440" marR="91440" marT="45720" marB="45720">
                    <a:solidFill>
                      <a:srgbClr val="10B981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LLM Gateway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✅ Heimdall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Local Inference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✅ MLX+vLLM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 Cloud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⚠️ via Ollama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⚠️ via Ollama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RAG Pipeline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✅ Full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⚠️ Basic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Agent Runtime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✅ Bifrost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Computer Use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✅ Fenrir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Multi-Tenant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⚠️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GPU Cloud Ready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✅ Sakura ←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Apple + NVIDIA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✅ Both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100% Self-Hosted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⚠️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371600" y="5303520"/>
            <a:ext cx="9448495" cy="1097280"/>
          </a:xfrm>
          <a:prstGeom prst="roundRect">
            <a:avLst/>
          </a:prstGeom>
          <a:solidFill>
            <a:srgbClr val="F0FDF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5486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5F46"/>
                </a:solidFill>
                <a:latin typeface="Calibri"/>
              </a:defRPr>
            </a:pPr>
            <a:r>
              <a:t>Only platform combining Gateway + RAG + Agent + Computer Use + GPU 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8978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4E68"/>
                </a:solidFill>
                <a:latin typeface="Calibri"/>
              </a:defRPr>
            </a:pPr>
            <a:r>
              <a:t>in a single self-hosted solution with native Apple Silicon &amp; NVIDIA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4899"/>
                </a:solidFill>
                <a:latin typeface="Calibri"/>
              </a:defRPr>
            </a:pPr>
            <a:r>
              <a:t>🌸  WHERE SAKURA INTERNET GPU 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411480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356616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864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Calibri"/>
              </a:defRPr>
            </a:pPr>
            <a:r>
              <a:t>1️⃣  RAG Embedding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64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Heavy Embedding &amp;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40" y="21031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4E68"/>
                </a:solidFill>
                <a:latin typeface="Calibri"/>
              </a:defRPr>
            </a:pPr>
            <a:r>
              <a:t>▸  Doc Embedding → H100 batch (10-100x faster)</a:t>
            </a:r>
          </a:p>
          <a:p>
            <a:pPr>
              <a:spcAft>
                <a:spcPts val="400"/>
              </a:spcAft>
              <a:defRPr sz="1300" b="0">
                <a:solidFill>
                  <a:srgbClr val="334E68"/>
                </a:solidFill>
                <a:latin typeface="Calibri"/>
              </a:defRPr>
            </a:pPr>
            <a:r>
              <a:t>▸  Re-ranking → GPU-accelerated</a:t>
            </a:r>
          </a:p>
          <a:p>
            <a:pPr>
              <a:spcAft>
                <a:spcPts val="400"/>
              </a:spcAft>
              <a:defRPr sz="1300" b="0">
                <a:solidFill>
                  <a:srgbClr val="334E68"/>
                </a:solidFill>
                <a:latin typeface="Calibri"/>
              </a:defRPr>
            </a:pPr>
            <a:r>
              <a:t>▸  Scale: 267 → 100K+ chunks/tenant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097280"/>
            <a:ext cx="356616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12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59669"/>
                </a:solidFill>
                <a:latin typeface="Calibri"/>
              </a:defRPr>
            </a:pPr>
            <a:r>
              <a:t>2️⃣  LLM 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12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Large Model Serving via Heimdall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120" y="21031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4E68"/>
                </a:solidFill>
                <a:latin typeface="Calibri"/>
              </a:defRPr>
            </a:pPr>
            <a:r>
              <a:t>▸  Model Size: 7B-35B → 70B-405B on H100</a:t>
            </a:r>
          </a:p>
          <a:p>
            <a:pPr>
              <a:spcAft>
                <a:spcPts val="400"/>
              </a:spcAft>
              <a:defRPr sz="1300" b="0">
                <a:solidFill>
                  <a:srgbClr val="334E68"/>
                </a:solidFill>
                <a:latin typeface="Calibri"/>
              </a:defRPr>
            </a:pPr>
            <a:r>
              <a:t>▸  Throughput: 5-20 → 100+ req/s</a:t>
            </a:r>
          </a:p>
          <a:p>
            <a:pPr>
              <a:spcAft>
                <a:spcPts val="400"/>
              </a:spcAft>
              <a:defRPr sz="1300" b="0">
                <a:solidFill>
                  <a:srgbClr val="334E68"/>
                </a:solidFill>
                <a:latin typeface="Calibri"/>
              </a:defRPr>
            </a:pPr>
            <a:r>
              <a:t>▸  Heimdall routes to Sakura vLLM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097280"/>
            <a:ext cx="356616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960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Calibri"/>
              </a:defRPr>
            </a:pPr>
            <a:r>
              <a:t>3️⃣  Agent 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960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GPU-Accelerated Bifrost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9600" y="21031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4E68"/>
                </a:solidFill>
                <a:latin typeface="Calibri"/>
              </a:defRPr>
            </a:pPr>
            <a:r>
              <a:t>▸  ReAct on H100 for complex reasoning</a:t>
            </a:r>
          </a:p>
          <a:p>
            <a:pPr>
              <a:spcAft>
                <a:spcPts val="400"/>
              </a:spcAft>
              <a:defRPr sz="1300" b="0">
                <a:solidFill>
                  <a:srgbClr val="334E68"/>
                </a:solidFill>
                <a:latin typeface="Calibri"/>
              </a:defRPr>
            </a:pPr>
            <a:r>
              <a:t>▸  Vision model inference (Fenrir)</a:t>
            </a:r>
          </a:p>
          <a:p>
            <a:pPr>
              <a:spcAft>
                <a:spcPts val="400"/>
              </a:spcAft>
              <a:defRPr sz="1300" b="0">
                <a:solidFill>
                  <a:srgbClr val="334E68"/>
                </a:solidFill>
                <a:latin typeface="Calibri"/>
              </a:defRPr>
            </a:pPr>
            <a:r>
              <a:t>▸  Parallel agent execution on GPU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4899"/>
                </a:solidFill>
                <a:latin typeface="Calibri"/>
              </a:defRPr>
            </a:pPr>
            <a:r>
              <a:t>Sakura Internet GPU Service Tiers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31520" y="5212080"/>
          <a:ext cx="10515600" cy="10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26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 marL="91440" marR="91440" marT="45720" marB="45720"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GPU</a:t>
                      </a:r>
                    </a:p>
                  </a:txBody>
                  <a:tcPr marL="91440" marR="91440" marT="45720" marB="45720"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 marL="91440" marR="91440" marT="45720" marB="45720"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Asgard Use Case</a:t>
                      </a:r>
                    </a:p>
                  </a:txBody>
                  <a:tcPr marL="91440" marR="91440" marT="45720" marB="45720">
                    <a:solidFill>
                      <a:srgbClr val="EC4899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DOK (Container)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H100 80GB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¥1,008/hr (~฿240/hr)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Dev/test, batch embedding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VRT (VM)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H100 80GB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¥385,000/mo (~฿92K/mo)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Production inference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PHY (Bare Metal)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H100/B200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Contact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Enterprise, fine-tuning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5F46"/>
                </a:solidFill>
                <a:latin typeface="Calibri"/>
              </a:defRPr>
            </a:pPr>
            <a:r>
              <a:t>🔐  HYBRID ARCHITECTURE — Local + Sakura Cloud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45720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Calibri"/>
              </a:defRPr>
            </a:pPr>
            <a:r>
              <a:t>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45720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  <a:latin typeface="Calibri"/>
              </a:defRPr>
            </a:pPr>
            <a:r>
              <a:t>🍎  Mac Mini / Mac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Calibri"/>
              </a:defRPr>
            </a:pPr>
            <a:r>
              <a:t>MLX Local Inference Only</a:t>
            </a:r>
            <a:br/>
            <a:r>
              <a:t>7B — 35B Models</a:t>
            </a:r>
            <a:br/>
            <a:r>
              <a:t>5-20 req/s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103120"/>
            <a:ext cx="1218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0B98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C4899"/>
                </a:solidFill>
                <a:latin typeface="Calibri"/>
              </a:defRPr>
            </a:pPr>
            <a:r>
              <a:t>TOMORROW (with Sakura)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737360"/>
            <a:ext cx="5029200" cy="1828800"/>
          </a:xfrm>
          <a:prstGeom prst="roundRect">
            <a:avLst/>
          </a:prstGeom>
          <a:solidFill>
            <a:srgbClr val="FFF1F5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C4899"/>
                </a:solidFill>
                <a:latin typeface="Calibri"/>
              </a:defRPr>
            </a:pPr>
            <a:r>
              <a:t>🍎 Local  +  🌸 Sakura H100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3774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4E68"/>
                </a:solidFill>
                <a:latin typeface="Calibri"/>
              </a:defRPr>
            </a:pPr>
            <a:r>
              <a:t>Hybrid AI Platform</a:t>
            </a:r>
            <a:br/>
            <a:r>
              <a:t>70B — 405B Models</a:t>
            </a:r>
            <a:br/>
            <a:r>
              <a:t>100+ req/s (vLLM on H100)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5F46"/>
                </a:solidFill>
                <a:latin typeface="Calibri"/>
              </a:defRPr>
            </a:pPr>
            <a:r>
              <a:t>Sakura Internet — 3 Security Levels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80560"/>
            <a:ext cx="35661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640" y="4617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🟢  Internet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4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  <a:latin typeface="Calibri"/>
              </a:defRPr>
            </a:pPr>
            <a:r>
              <a:t>Public API + TLS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40" y="5394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Development, Testing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480560"/>
            <a:ext cx="35661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9120" y="4617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97706"/>
                </a:solidFill>
                <a:latin typeface="Calibri"/>
              </a:defRPr>
            </a:pPr>
            <a:r>
              <a:t>🟡  VPN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12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  <a:latin typeface="Calibri"/>
              </a:defRPr>
            </a:pPr>
            <a:r>
              <a:t>Site-to-site VPN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9120" y="5394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Production Workloads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4480560"/>
            <a:ext cx="35661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9600" y="4617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C2626"/>
                </a:solidFill>
                <a:latin typeface="Calibri"/>
              </a:defRPr>
            </a:pPr>
            <a:r>
              <a:t>🔴  TrueIDC OCX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960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  <a:latin typeface="Calibri"/>
              </a:defRPr>
            </a:pPr>
            <a:r>
              <a:t>Private Interconnect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9600" y="5394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Healthcare, Financial (PDPA)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5F46"/>
                </a:solidFill>
                <a:latin typeface="Calibri"/>
              </a:defRPr>
            </a:pPr>
            <a:r>
              <a:t>💰  BUSINESS MODEL &amp; REVENUE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32004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10515600" cy="1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28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Revenue Stream</a:t>
                      </a:r>
                    </a:p>
                  </a:txBody>
                  <a:tcPr marL="91440" marR="91440" marT="45720" marB="4572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1 (2026)</a:t>
                      </a:r>
                    </a:p>
                  </a:txBody>
                  <a:tcPr marL="91440" marR="91440" marT="45720" marB="4572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2 (2027)</a:t>
                      </a:r>
                    </a:p>
                  </a:txBody>
                  <a:tcPr marL="91440" marR="91440" marT="45720" marB="4572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3 (2028)</a:t>
                      </a:r>
                    </a:p>
                  </a:txBody>
                  <a:tcPr marL="91440" marR="91440" marT="45720" marB="45720">
                    <a:solidFill>
                      <a:srgbClr val="10B981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Enterprise Licenses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$0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$180K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$774K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GPU Cloud Referral (Sakura)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$50K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$200K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Hardware Bundles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$15K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$80K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$200K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Consulting + Training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$30K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$80K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$150K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$45K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$390K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$1,324K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5F46"/>
                </a:solidFill>
                <a:latin typeface="Calibri"/>
              </a:defRPr>
            </a:pPr>
            <a:r>
              <a:t>Target Markets (ASEAN Focus)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14800"/>
            <a:ext cx="26974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640" y="4251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  <a:latin typeface="Calibri"/>
              </a:defRPr>
            </a:pPr>
            <a:r>
              <a:t>🏥  Healthcare (TH)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40" y="4754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$4.2B SAM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40" y="5212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PDPA, Medical RAG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4114800"/>
            <a:ext cx="26974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9000" y="4251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⚖️  Legal Firms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9000" y="4754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High WTP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9000" y="5212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Confidential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114800"/>
            <a:ext cx="26974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9360" y="4251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🏦  Financial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9360" y="4754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Very High WTP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9360" y="5212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Compliance, Audit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4114800"/>
            <a:ext cx="26974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9720" y="4251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🎮  Game Studios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9720" y="4754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Growing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9720" y="5212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NPC AI, IP Protection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4899"/>
                </a:solidFill>
                <a:latin typeface="Calibri"/>
              </a:defRPr>
            </a:pPr>
            <a:r>
              <a:t>🤝  PARTNERSHIP PROPOSAL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320040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356616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864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Option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64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Technology Partnership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40" y="21031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4E68"/>
                </a:solidFill>
                <a:latin typeface="Calibri"/>
              </a:defRPr>
            </a:pPr>
            <a:r>
              <a:t>▸  Sakura provides GPU credits for Asgard dev</a:t>
            </a:r>
          </a:p>
          <a:p>
            <a:pPr>
              <a:spcAft>
                <a:spcPts val="400"/>
              </a:spcAft>
              <a:defRPr sz="1200" b="0">
                <a:solidFill>
                  <a:srgbClr val="334E68"/>
                </a:solidFill>
                <a:latin typeface="Calibri"/>
              </a:defRPr>
            </a:pPr>
            <a:r>
              <a:t>▸  Asgard becomes Sakura-certified platform</a:t>
            </a:r>
          </a:p>
          <a:p>
            <a:pPr>
              <a:spcAft>
                <a:spcPts val="400"/>
              </a:spcAft>
              <a:defRPr sz="1200" b="0">
                <a:solidFill>
                  <a:srgbClr val="334E6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✦ Sakura Gets: Ready-made platform</a:t>
            </a:r>
            <a:br/>
            <a:r>
              <a:t>   that drives GPU consumption</a:t>
            </a:r>
          </a:p>
          <a:p>
            <a:pPr>
              <a:spcAft>
                <a:spcPts val="40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✦ MegaWiz Gets: GPU resources for</a:t>
            </a:r>
            <a:br/>
            <a:r>
              <a:t>   development + customer demos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097280"/>
            <a:ext cx="356616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12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Option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12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97706"/>
                </a:solidFill>
                <a:latin typeface="Calibri"/>
              </a:defRPr>
            </a:pPr>
            <a:r>
              <a:t>Joint Go-to-Market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120" y="21031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4E68"/>
                </a:solidFill>
                <a:latin typeface="Calibri"/>
              </a:defRPr>
            </a:pPr>
            <a:r>
              <a:t>▸  Co-sell Asgard + Sakura GPU to enterprises</a:t>
            </a:r>
          </a:p>
          <a:p>
            <a:pPr>
              <a:spcAft>
                <a:spcPts val="400"/>
              </a:spcAft>
              <a:defRPr sz="1200" b="0">
                <a:solidFill>
                  <a:srgbClr val="334E68"/>
                </a:solidFill>
                <a:latin typeface="Calibri"/>
              </a:defRPr>
            </a:pPr>
            <a:r>
              <a:t>▸  Revenue share on GPU referrals</a:t>
            </a:r>
          </a:p>
          <a:p>
            <a:pPr>
              <a:spcAft>
                <a:spcPts val="400"/>
              </a:spcAft>
              <a:defRPr sz="1200" b="0">
                <a:solidFill>
                  <a:srgbClr val="334E6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D97706"/>
                </a:solidFill>
                <a:latin typeface="Calibri"/>
              </a:defRPr>
            </a:pPr>
            <a:r>
              <a:t>✦ Sakura Gets: New enterprise</a:t>
            </a:r>
            <a:br/>
            <a:r>
              <a:t>   customers in Thailand</a:t>
            </a:r>
          </a:p>
          <a:p>
            <a:pPr>
              <a:spcAft>
                <a:spcPts val="400"/>
              </a:spcAft>
              <a:defRPr sz="1200" b="1">
                <a:solidFill>
                  <a:srgbClr val="D97706"/>
                </a:solidFill>
                <a:latin typeface="Calibri"/>
              </a:defRPr>
            </a:pPr>
            <a:r>
              <a:t>✦ MegaWiz Gets: Brand credibility</a:t>
            </a:r>
            <a:br/>
            <a:r>
              <a:t>   + GPU pricing advantage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097280"/>
            <a:ext cx="356616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960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Option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960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  <a:latin typeface="Calibri"/>
              </a:defRPr>
            </a:pPr>
            <a:r>
              <a:t>Strategic Investment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9600" y="21031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4E68"/>
                </a:solidFill>
                <a:latin typeface="Calibri"/>
              </a:defRPr>
            </a:pPr>
            <a:r>
              <a:t>▸  Seed Round: $500K (Q2 2027)</a:t>
            </a:r>
          </a:p>
          <a:p>
            <a:pPr>
              <a:spcAft>
                <a:spcPts val="400"/>
              </a:spcAft>
              <a:defRPr sz="1200" b="0">
                <a:solidFill>
                  <a:srgbClr val="334E68"/>
                </a:solidFill>
                <a:latin typeface="Calibri"/>
              </a:defRPr>
            </a:pPr>
            <a:r>
              <a:t>▸  Pre-money: $3-5M valuation</a:t>
            </a:r>
          </a:p>
          <a:p>
            <a:pPr>
              <a:spcAft>
                <a:spcPts val="400"/>
              </a:spcAft>
              <a:defRPr sz="1200" b="0">
                <a:solidFill>
                  <a:srgbClr val="334E6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7C3AED"/>
                </a:solidFill>
                <a:latin typeface="Calibri"/>
              </a:defRPr>
            </a:pPr>
            <a:r>
              <a:t>✦ Sakura Gets: Equity in AI platform</a:t>
            </a:r>
            <a:br/>
            <a:r>
              <a:t>   driving GPU usage in ASEAN</a:t>
            </a:r>
          </a:p>
          <a:p>
            <a:pPr>
              <a:spcAft>
                <a:spcPts val="400"/>
              </a:spcAft>
              <a:defRPr sz="1200" b="1">
                <a:solidFill>
                  <a:srgbClr val="7C3AED"/>
                </a:solidFill>
                <a:latin typeface="Calibri"/>
              </a:defRPr>
            </a:pPr>
            <a:r>
              <a:t>✦ Milestone: $100K ARR,</a:t>
            </a:r>
            <a:br/>
            <a:r>
              <a:t>   500+ GitHub stars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943600"/>
            <a:ext cx="10362895" cy="640080"/>
          </a:xfrm>
          <a:prstGeom prst="roundRect">
            <a:avLst/>
          </a:prstGeom>
          <a:solidFill>
            <a:srgbClr val="FFF1F5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989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C4899"/>
                </a:solidFill>
                <a:latin typeface="Calibri"/>
              </a:defRPr>
            </a:pPr>
            <a:r>
              <a:t>Sojitz-Sakura Alliance Goal: "Joint partnership to create new business models for GPU cloud services and develop use cases"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5F46"/>
                </a:solidFill>
                <a:latin typeface="Calibri"/>
              </a:defRPr>
            </a:pPr>
            <a:r>
              <a:t>🗺️  INTEGRATION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32004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148840" cy="2560320"/>
          </a:xfrm>
          <a:prstGeom prst="roundRect">
            <a:avLst/>
          </a:prstGeom>
          <a:solidFill>
            <a:srgbClr val="F0FDF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14600" y="20116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760" y="15087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APR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5760" y="1920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Calibri"/>
              </a:defRPr>
            </a:pPr>
            <a:r>
              <a:t>PoC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760" y="246888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Connect Heimdall →</a:t>
            </a:r>
            <a:br/>
            <a:r>
              <a:t>Sakura H100 (DOK)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1371600"/>
            <a:ext cx="2148840" cy="2560320"/>
          </a:xfrm>
          <a:prstGeom prst="roundRect">
            <a:avLst/>
          </a:prstGeom>
          <a:solidFill>
            <a:srgbClr val="F0FDFA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0116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7480" y="15087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9488"/>
                </a:solidFill>
                <a:latin typeface="Calibri"/>
              </a:defRPr>
            </a:pPr>
            <a:r>
              <a:t>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7480" y="1920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Calibri"/>
              </a:defRPr>
            </a:pPr>
            <a:r>
              <a:t>Benchmark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7480" y="246888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MLX vs Sakura H100</a:t>
            </a:r>
            <a:br/>
            <a:r>
              <a:t>Performance test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371600"/>
            <a:ext cx="2148840" cy="2560320"/>
          </a:xfrm>
          <a:prstGeom prst="roundRect">
            <a:avLst/>
          </a:prstGeom>
          <a:solidFill>
            <a:srgbClr val="F0FDFA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0116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9200" y="15087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97706"/>
                </a:solidFill>
                <a:latin typeface="Calibri"/>
              </a:defRPr>
            </a:pPr>
            <a:r>
              <a:t>JUN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9200" y="1920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Calibri"/>
              </a:defRPr>
            </a:pPr>
            <a:r>
              <a:t>VPN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9200" y="246888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Production-grade</a:t>
            </a:r>
            <a:br/>
            <a:r>
              <a:t>VPN connection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19" y="1371600"/>
            <a:ext cx="2148840" cy="2560320"/>
          </a:xfrm>
          <a:prstGeom prst="roundRect">
            <a:avLst/>
          </a:prstGeom>
          <a:solidFill>
            <a:srgbClr val="F0FDFA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59" y="20116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0919" y="15087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C3AED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0919" y="1920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Calibri"/>
              </a:defRPr>
            </a:pPr>
            <a:r>
              <a:t>Joint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0919" y="246888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Techsauce &amp;</a:t>
            </a:r>
            <a:br/>
            <a:r>
              <a:t>Healthcare events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1371600"/>
            <a:ext cx="2148840" cy="2560320"/>
          </a:xfrm>
          <a:prstGeom prst="roundRect">
            <a:avLst/>
          </a:prstGeom>
          <a:solidFill>
            <a:srgbClr val="F0FDFA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72640" y="15087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C4899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2640" y="1920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Calibri"/>
              </a:defRPr>
            </a:pPr>
            <a:r>
              <a:t>Co-sell Launch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72640" y="246888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Asgard + Sakura</a:t>
            </a:r>
            <a:br/>
            <a:r>
              <a:t>bundle for Thai market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5F46"/>
                </a:solidFill>
                <a:latin typeface="Calibri"/>
              </a:defRPr>
            </a:pPr>
            <a:r>
              <a:t>Product Milestones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31520" y="4754880"/>
          <a:ext cx="10515600" cy="1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26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Version</a:t>
                      </a:r>
                    </a:p>
                  </a:txBody>
                  <a:tcPr marL="91440" marR="91440" marT="45720" marB="4572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Codename</a:t>
                      </a:r>
                    </a:p>
                  </a:txBody>
                  <a:tcPr marL="91440" marR="91440" marT="45720" marB="4572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marL="91440" marR="91440" marT="45720" marB="4572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Deliverables</a:t>
                      </a:r>
                    </a:p>
                  </a:txBody>
                  <a:tcPr marL="91440" marR="91440" marT="45720" marB="45720">
                    <a:solidFill>
                      <a:srgbClr val="10B981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v0.5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Foundation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Q2 2026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 services, 484+ tests, Docker Compose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v0.8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Growth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Q3 2026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Workflow Builder, A2A, Fenrir MVP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v1.0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Community Launch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Q4 2026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Product Hunt, HackerNews, Marketplace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v2.0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Enterprise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2027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SSO, HA Clustering, White-Label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5F46"/>
                </a:solidFill>
                <a:latin typeface="Calibri"/>
              </a:defRPr>
            </a:pPr>
            <a:r>
              <a:t>🎯  WHY ASGARD × SAKURA = WIN-WIN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4114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029200" cy="3657600"/>
          </a:xfrm>
          <a:prstGeom prst="roundRect">
            <a:avLst/>
          </a:prstGeom>
          <a:solidFill>
            <a:srgbClr val="FFF1F5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C4899"/>
                </a:solidFill>
                <a:latin typeface="Calibri"/>
              </a:defRPr>
            </a:pPr>
            <a:r>
              <a:t>🌸  What Sakura Internet 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✅  Ready-made AI platform that drives</a:t>
            </a:r>
            <a:br/>
            <a:r>
              <a:t>      GPU consumption</a:t>
            </a:r>
          </a:p>
          <a:p>
            <a:pPr>
              <a:spcAft>
                <a:spcPts val="400"/>
              </a:spcAft>
              <a:defRPr sz="6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✅  New enterprise customers in</a:t>
            </a:r>
            <a:br/>
            <a:r>
              <a:t>      Thailand / ASEAN market</a:t>
            </a:r>
          </a:p>
          <a:p>
            <a:pPr>
              <a:spcAft>
                <a:spcPts val="400"/>
              </a:spcAft>
              <a:defRPr sz="6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✅  Aligns with Sojitz alliance goal:</a:t>
            </a:r>
            <a:br/>
            <a:r>
              <a:t>      'develop use cases for GPU cloud'</a:t>
            </a:r>
          </a:p>
          <a:p>
            <a:pPr>
              <a:spcAft>
                <a:spcPts val="400"/>
              </a:spcAft>
              <a:defRPr sz="6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EC4899"/>
                </a:solidFill>
                <a:latin typeface="Calibri"/>
              </a:defRPr>
            </a:pPr>
            <a:r>
              <a:t>✅  Every Asgard Enterprise customer</a:t>
            </a:r>
            <a:br/>
            <a:r>
              <a:t>      = a Sakura GPU customer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029200" cy="3657600"/>
          </a:xfrm>
          <a:prstGeom prst="roundRect">
            <a:avLst/>
          </a:prstGeom>
          <a:solidFill>
            <a:srgbClr val="F0FDF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5F46"/>
                </a:solidFill>
                <a:latin typeface="Calibri"/>
              </a:defRPr>
            </a:pPr>
            <a:r>
              <a:t>🏰  What MegaWiz Gets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8288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✅  GPU resources for development</a:t>
            </a:r>
            <a:br/>
            <a:r>
              <a:t>      and customer demos</a:t>
            </a:r>
          </a:p>
          <a:p>
            <a:pPr>
              <a:spcAft>
                <a:spcPts val="400"/>
              </a:spcAft>
              <a:defRPr sz="6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✅  Sakura brand credibility</a:t>
            </a:r>
            <a:br/>
            <a:r>
              <a:t>      for enterprise sales</a:t>
            </a:r>
          </a:p>
          <a:p>
            <a:pPr>
              <a:spcAft>
                <a:spcPts val="400"/>
              </a:spcAft>
              <a:defRPr sz="6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✅  GPU pricing advantage</a:t>
            </a:r>
            <a:br/>
            <a:r>
              <a:t>      for competitive bundling</a:t>
            </a:r>
          </a:p>
          <a:p>
            <a:pPr>
              <a:spcAft>
                <a:spcPts val="400"/>
              </a:spcAft>
              <a:defRPr sz="6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59669"/>
                </a:solidFill>
                <a:latin typeface="Calibri"/>
              </a:defRPr>
            </a:pPr>
            <a:r>
              <a:t>✅  Partnership foundation for</a:t>
            </a:r>
            <a:br/>
            <a:r>
              <a:t>      future investment round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5120640"/>
            <a:ext cx="9448495" cy="1371600"/>
          </a:xfrm>
          <a:prstGeom prst="roundRect">
            <a:avLst/>
          </a:prstGeom>
          <a:solidFill>
            <a:srgbClr val="F0FDF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5257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ONE-LINE PITCH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5778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5F46"/>
                </a:solidFill>
                <a:latin typeface="Calibri"/>
              </a:defRPr>
            </a:pPr>
            <a:r>
              <a:t>"Asgard makes Sakura's GPU cloud instantly useful</a:t>
            </a:r>
            <a:br/>
            <a:r>
              <a:t>for ASEAN enterprises — from a $7K Mac Mini to an</a:t>
            </a:r>
            <a:br/>
            <a:r>
              <a:t>H100 cluster, one platform scales it all."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0" y="6400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0">
                <a:solidFill>
                  <a:srgbClr val="1E293B"/>
                </a:solidFill>
                <a:latin typeface="Calibri"/>
              </a:defRPr>
            </a:pPr>
            <a:r>
              <a:t>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534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65F46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1168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C4899"/>
                </a:solidFill>
                <a:latin typeface="Calibri"/>
              </a:defRPr>
            </a:pPr>
            <a:r>
              <a:t>ขอบคุณครับ  ·  ありがとうございます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60604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Georgia"/>
              </a:defRPr>
            </a:pPr>
            <a:r>
              <a:t>"Asgard is not a place, it's a people."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926080"/>
            <a:ext cx="8534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  <a:latin typeface="Calibri"/>
              </a:defRPr>
            </a:pPr>
            <a:r>
              <a:t>Asgard เป็นของทุกคนแล้ว — Asgard belongs to everyone.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3429000"/>
            <a:ext cx="3047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0" y="3749039"/>
            <a:ext cx="5790895" cy="25603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3931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E293B"/>
                </a:solidFill>
                <a:latin typeface="Calibri"/>
              </a:defRPr>
            </a:pPr>
            <a:r>
              <a:t>Paripol</a:t>
            </a:r>
          </a:p>
          <a:p>
            <a:pPr>
              <a:spcAft>
                <a:spcPts val="40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Founder / CTO — MegaWiz Co., Ltd.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334E68"/>
                </a:solidFill>
                <a:latin typeface="Calibri"/>
              </a:defRPr>
            </a:pPr>
            <a:r>
              <a:t>📧   paripol@megawiz.co</a:t>
            </a:r>
          </a:p>
          <a:p>
            <a:pPr>
              <a:spcAft>
                <a:spcPts val="400"/>
              </a:spcAft>
              <a:defRPr sz="1600" b="0">
                <a:solidFill>
                  <a:srgbClr val="334E68"/>
                </a:solidFill>
                <a:latin typeface="Calibri"/>
              </a:defRPr>
            </a:pPr>
            <a:r>
              <a:t>🔗   github.com/MegaWiz-Dev-Team</a:t>
            </a:r>
          </a:p>
          <a:p>
            <a:pPr>
              <a:spcAft>
                <a:spcPts val="400"/>
              </a:spcAft>
              <a:defRPr sz="1600" b="0">
                <a:solidFill>
                  <a:srgbClr val="059669"/>
                </a:solidFill>
                <a:latin typeface="Calibri"/>
              </a:defRPr>
            </a:pPr>
            <a:r>
              <a:t>🎪   Techsauce Healthspan Festival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Mimir Dashboard — Overview</a:t>
            </a:r>
          </a:p>
        </p:txBody>
      </p:sp>
      <p:pic>
        <p:nvPicPr>
          <p:cNvPr id="3" name="Picture 2" descr="click_feedback_17739797153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7295" cy="56562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Knowledge Graph — 423 Entities, 727 Relations</a:t>
            </a:r>
          </a:p>
        </p:txBody>
      </p:sp>
      <p:pic>
        <p:nvPicPr>
          <p:cNvPr id="3" name="Picture 2" descr="graph_visualization_fixed_17739788573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7295" cy="565626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AI Agent Chat — Dr. Sleep (Multilingual)</a:t>
            </a:r>
          </a:p>
        </p:txBody>
      </p:sp>
      <p:pic>
        <p:nvPicPr>
          <p:cNvPr id="3" name="Picture 2" descr="dr_sleep_chat_thai_response_17739808467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7295" cy="56562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Conversation Analytics — 7 Sessions, 24 Messages</a:t>
            </a:r>
          </a:p>
        </p:txBody>
      </p:sp>
      <p:pic>
        <p:nvPicPr>
          <p:cNvPr id="3" name="Picture 2" descr="click_feedback_17739824968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7295" cy="56562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